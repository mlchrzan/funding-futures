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046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184" y="20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Chrzan" userId="773b8c6fcc749134" providerId="LiveId" clId="{774BF0A7-CACC-5611-8639-606FC9E7A10D}"/>
    <pc:docChg chg="custSel modSld sldOrd">
      <pc:chgData name="Michael Chrzan" userId="773b8c6fcc749134" providerId="LiveId" clId="{774BF0A7-CACC-5611-8639-606FC9E7A10D}" dt="2026-03-15T18:50:18.455" v="76" actId="20577"/>
      <pc:docMkLst>
        <pc:docMk/>
      </pc:docMkLst>
      <pc:sldChg chg="modSp mod">
        <pc:chgData name="Michael Chrzan" userId="773b8c6fcc749134" providerId="LiveId" clId="{774BF0A7-CACC-5611-8639-606FC9E7A10D}" dt="2026-03-15T15:03:44.788" v="38" actId="20577"/>
        <pc:sldMkLst>
          <pc:docMk/>
          <pc:sldMk cId="0" sldId="258"/>
        </pc:sldMkLst>
        <pc:spChg chg="mod">
          <ac:chgData name="Michael Chrzan" userId="773b8c6fcc749134" providerId="LiveId" clId="{774BF0A7-CACC-5611-8639-606FC9E7A10D}" dt="2026-03-15T15:03:02.275" v="22" actId="20577"/>
          <ac:spMkLst>
            <pc:docMk/>
            <pc:sldMk cId="0" sldId="258"/>
            <ac:spMk id="10" creationId="{00000000-0000-0000-0000-000000000000}"/>
          </ac:spMkLst>
        </pc:spChg>
        <pc:spChg chg="mod">
          <ac:chgData name="Michael Chrzan" userId="773b8c6fcc749134" providerId="LiveId" clId="{774BF0A7-CACC-5611-8639-606FC9E7A10D}" dt="2026-03-15T15:03:44.788" v="38" actId="20577"/>
          <ac:spMkLst>
            <pc:docMk/>
            <pc:sldMk cId="0" sldId="258"/>
            <ac:spMk id="27" creationId="{00000000-0000-0000-0000-000000000000}"/>
          </ac:spMkLst>
        </pc:spChg>
      </pc:sldChg>
      <pc:sldChg chg="modSp mod">
        <pc:chgData name="Michael Chrzan" userId="773b8c6fcc749134" providerId="LiveId" clId="{774BF0A7-CACC-5611-8639-606FC9E7A10D}" dt="2026-03-15T18:50:18.455" v="76" actId="20577"/>
        <pc:sldMkLst>
          <pc:docMk/>
          <pc:sldMk cId="0" sldId="261"/>
        </pc:sldMkLst>
        <pc:spChg chg="mod">
          <ac:chgData name="Michael Chrzan" userId="773b8c6fcc749134" providerId="LiveId" clId="{774BF0A7-CACC-5611-8639-606FC9E7A10D}" dt="2026-03-15T18:49:48.587" v="43" actId="20577"/>
          <ac:spMkLst>
            <pc:docMk/>
            <pc:sldMk cId="0" sldId="261"/>
            <ac:spMk id="15" creationId="{00000000-0000-0000-0000-000000000000}"/>
          </ac:spMkLst>
        </pc:spChg>
        <pc:spChg chg="mod">
          <ac:chgData name="Michael Chrzan" userId="773b8c6fcc749134" providerId="LiveId" clId="{774BF0A7-CACC-5611-8639-606FC9E7A10D}" dt="2026-03-15T18:49:58.569" v="52" actId="20577"/>
          <ac:spMkLst>
            <pc:docMk/>
            <pc:sldMk cId="0" sldId="261"/>
            <ac:spMk id="18" creationId="{00000000-0000-0000-0000-000000000000}"/>
          </ac:spMkLst>
        </pc:spChg>
        <pc:spChg chg="mod">
          <ac:chgData name="Michael Chrzan" userId="773b8c6fcc749134" providerId="LiveId" clId="{774BF0A7-CACC-5611-8639-606FC9E7A10D}" dt="2026-03-15T18:50:04.787" v="62" actId="20577"/>
          <ac:spMkLst>
            <pc:docMk/>
            <pc:sldMk cId="0" sldId="261"/>
            <ac:spMk id="27" creationId="{00000000-0000-0000-0000-000000000000}"/>
          </ac:spMkLst>
        </pc:spChg>
        <pc:spChg chg="mod">
          <ac:chgData name="Michael Chrzan" userId="773b8c6fcc749134" providerId="LiveId" clId="{774BF0A7-CACC-5611-8639-606FC9E7A10D}" dt="2026-03-15T18:50:18.455" v="76" actId="20577"/>
          <ac:spMkLst>
            <pc:docMk/>
            <pc:sldMk cId="0" sldId="261"/>
            <ac:spMk id="39" creationId="{00000000-0000-0000-0000-000000000000}"/>
          </ac:spMkLst>
        </pc:spChg>
      </pc:sldChg>
      <pc:sldChg chg="ord">
        <pc:chgData name="Michael Chrzan" userId="773b8c6fcc749134" providerId="LiveId" clId="{774BF0A7-CACC-5611-8639-606FC9E7A10D}" dt="2026-03-15T15:05:37.382" v="39" actId="20578"/>
        <pc:sldMkLst>
          <pc:docMk/>
          <pc:sldMk cId="0" sldId="2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700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F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731520"/>
            <a:ext cx="2926080" cy="2926080"/>
          </a:xfrm>
          <a:prstGeom prst="ellipse">
            <a:avLst/>
          </a:prstGeom>
          <a:solidFill>
            <a:srgbClr val="0A9396">
              <a:alpha val="40000"/>
            </a:srgbClr>
          </a:solidFill>
          <a:ln w="12700">
            <a:solidFill>
              <a:srgbClr val="0A939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223760" y="-365760"/>
            <a:ext cx="2011680" cy="2011680"/>
          </a:xfrm>
          <a:prstGeom prst="ellipse">
            <a:avLst/>
          </a:prstGeom>
          <a:solidFill>
            <a:srgbClr val="ADE8F4">
              <a:alpha val="30000"/>
            </a:srgbClr>
          </a:solidFill>
          <a:ln w="12700">
            <a:solidFill>
              <a:srgbClr val="ADE8F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AD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PLAN CHALLENGE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Futures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D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K-12 Education Finance Equity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solidFill>
                  <a:srgbClr val="AD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 and the C2C Student Pathways Dashboard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43159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Undergraduate Course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75 Minutes  |  R + edfinr + C2C Dashboard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960120" cy="54864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417320" y="1051560"/>
            <a:ext cx="7132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08760" y="1069848"/>
            <a:ext cx="6949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Hook  </a:t>
            </a:r>
            <a:r>
              <a:rPr lang="en-US" sz="13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 min  — 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C2C Dashboard together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0040" y="1801368"/>
            <a:ext cx="960120" cy="54864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801368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417320" y="1801368"/>
            <a:ext cx="7132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508760" y="1819656"/>
            <a:ext cx="6949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Mini-Lecture  </a:t>
            </a:r>
            <a:r>
              <a:rPr lang="en-US" sz="13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10–25 min  — 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K-12 funding works + intro to edfinr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20040" y="2551176"/>
            <a:ext cx="960120" cy="54864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551176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417320" y="2551176"/>
            <a:ext cx="7132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2569464"/>
            <a:ext cx="6949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Notebook  </a:t>
            </a:r>
            <a:r>
              <a:rPr lang="en-US" sz="13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25–55 min  — 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data exploration &amp; equity visualizations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20040" y="3300984"/>
            <a:ext cx="960120" cy="54864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3300984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417320" y="3300984"/>
            <a:ext cx="7132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508760" y="3319272"/>
            <a:ext cx="6949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 </a:t>
            </a:r>
            <a:r>
              <a:rPr lang="en-US" sz="13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55–68 min  — 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findings to C2C dashboard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20040" y="4050792"/>
            <a:ext cx="960120" cy="54864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4050792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417320" y="4050792"/>
            <a:ext cx="7132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508760" y="4069080"/>
            <a:ext cx="6949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  </a:t>
            </a:r>
            <a:r>
              <a:rPr lang="en-US" sz="13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68–75 min  — 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 + reflection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Opening Hook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See in the Data?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691640"/>
            <a:ext cx="3931920" cy="3063240"/>
          </a:xfrm>
          <a:prstGeom prst="rect">
            <a:avLst/>
          </a:prstGeom>
          <a:solidFill>
            <a:srgbClr val="F4F7F8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the C2C Dashboard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214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databydesign.caschooldashboard.org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237744" cy="237744"/>
          </a:xfrm>
          <a:prstGeom prst="ellipse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49631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demographic filters (race, gender, houselessness)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237744" cy="237744"/>
          </a:xfrm>
          <a:prstGeom prst="ellipse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30175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299923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'How do I read this chart?' pop-out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237744" cy="237744"/>
          </a:xfrm>
          <a:prstGeom prst="ellipse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52044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350215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ⓘ information circles for key terms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237744" cy="237744"/>
          </a:xfrm>
          <a:prstGeom prst="ellipse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40233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400507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any suppressed/blank data cells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1691640"/>
            <a:ext cx="4251960" cy="3063240"/>
          </a:xfrm>
          <a:prstGeom prst="rect">
            <a:avLst/>
          </a:prstGeom>
          <a:solidFill>
            <a:srgbClr val="FFF3CD"/>
          </a:solidFill>
          <a:ln w="12700">
            <a:solidFill>
              <a:srgbClr val="EE9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09160" y="1783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2240280"/>
            <a:ext cx="36576" cy="5029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00600" y="2221992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patterns appear when switching between student groups?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3017520"/>
            <a:ext cx="36576" cy="5029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00600" y="2999232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might some data be hidden or suppressed?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3794760"/>
            <a:ext cx="36576" cy="5029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00600" y="3776472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might your schools’ funding have shaped your own path to college?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Mini-Lecture: How K-12 Funding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743200" cy="100584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1430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
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~45%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2148840"/>
            <a:ext cx="2743200" cy="822960"/>
          </a:xfrm>
          <a:prstGeom prst="rect">
            <a:avLst/>
          </a:prstGeom>
          <a:solidFill>
            <a:srgbClr val="F4F7F8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2176272"/>
            <a:ext cx="25603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Primarily property taxes.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Wealthy neighborhoods → well-funded schools.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143000"/>
            <a:ext cx="2743200" cy="10058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46120" y="11430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
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~47%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46120" y="2148840"/>
            <a:ext cx="2743200" cy="822960"/>
          </a:xfrm>
          <a:prstGeom prst="rect">
            <a:avLst/>
          </a:prstGeom>
          <a:solidFill>
            <a:srgbClr val="F4F7F8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37560" y="2176272"/>
            <a:ext cx="25603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Formula-based aid.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Attempts to equalize, but gaps persist.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143000"/>
            <a:ext cx="2743200" cy="100584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0" y="11430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
</a:t>
            </a: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~8%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17920" y="2148840"/>
            <a:ext cx="2743200" cy="822960"/>
          </a:xfrm>
          <a:prstGeom prst="rect">
            <a:avLst/>
          </a:prstGeom>
          <a:solidFill>
            <a:srgbClr val="F4F7F8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09360" y="2176272"/>
            <a:ext cx="25603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I, IDEA, etc.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at high-need populations.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154680"/>
            <a:ext cx="8595360" cy="731520"/>
          </a:xfrm>
          <a:prstGeom prst="rect">
            <a:avLst/>
          </a:prstGeom>
          <a:solidFill>
            <a:srgbClr val="005F73">
              <a:alpha val="15000"/>
            </a:srgbClr>
          </a:solidFill>
          <a:ln w="12700">
            <a:solidFill>
              <a:srgbClr val="005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2004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local funding is tied to property taxes, districts in low-income areas systematically receive less money — creating a self-reinforcing cycle of inequality.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4023360"/>
            <a:ext cx="859536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411480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edfinr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this data accessible: NCES F-33 + Census SAIPE + ACS, all in one tidy R tibble.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Introducing edfinr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edfinr?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 package that combines three major federal datasets into a single, tidy, analysis-ready table covering every U.S. school district (2011–12 through 2021–22).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205740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2057400"/>
            <a:ext cx="27432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21488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NCES F-33 Survey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48716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expenditure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for every district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205740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91840" y="2057400"/>
            <a:ext cx="27432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0" y="21488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SAIPE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248716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 rate estimates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school-district level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205740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63640" y="2057400"/>
            <a:ext cx="27432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55080" y="21488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ACS 5-Year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248716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demographics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educational attainment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401568"/>
            <a:ext cx="8503920" cy="13716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347472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 and use edfinr
</a:t>
            </a: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install.packages</a:t>
            </a: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('edfinr')
</a:t>
            </a: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(edfinr)
</a:t>
            </a: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ca_data 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 </a:t>
            </a: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get_finance_data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(yr = '2022', geo = 'CA', dataset_type = 'skinny')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Data Suppression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D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the C2C Dashboard hide some data?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8412480" cy="960120"/>
          </a:xfrm>
          <a:prstGeom prst="rect">
            <a:avLst/>
          </a:prstGeom>
          <a:solidFill>
            <a:srgbClr val="0A9396">
              <a:alpha val="30000"/>
            </a:srgbClr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8046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C2C Suppression Rule: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hidden when a student group has 10 or fewer individuals, protecting individual privacy within the P20W system (Cradle-to-Career System Data Suppression Protocol).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2651760"/>
            <a:ext cx="2788920" cy="2148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9768" y="2724912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Who is most suppressed?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" y="3200400"/>
            <a:ext cx="257860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D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Smaller, more marginalized groups — rural students, specific racial/ethnic subgroups, students with disabilities — are more likely to fall below the threshold and be hidden.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2651760"/>
            <a:ext cx="2788920" cy="2148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01568" y="2724912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The equity paradox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01568" y="3200400"/>
            <a:ext cx="257860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D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very communities we most need to see in order to design equitable policy are most often invisible in the data.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2651760"/>
            <a:ext cx="2788920" cy="2148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73368" y="2724912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What should we do?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73368" y="3200400"/>
            <a:ext cx="257860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D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suppression when reporting; seek out qualitative data; advocate for larger sample sizes through policy.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Guided R Notebook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2834640" cy="5029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1752" y="10972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A: Getting Started with edfinr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600200"/>
            <a:ext cx="2834640" cy="3154680"/>
          </a:xfrm>
          <a:prstGeom prst="rect">
            <a:avLst/>
          </a:prstGeom>
          <a:solidFill>
            <a:srgbClr val="F4F7F8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38328" y="1755648"/>
            <a:ext cx="256032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8328" y="17556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67512" y="173736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get_states() → explore geographies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" y="2450592"/>
            <a:ext cx="256032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8328" y="24505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7512" y="2432304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get_finance_data(yr='2022', geo='CA')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" y="3145536"/>
            <a:ext cx="256032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8328" y="31455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7512" y="3127248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skim() and summary() on key variables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328" y="3840480"/>
            <a:ext cx="256032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8328" y="38404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7512" y="382219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Understand: rev_total_pp, </a:t>
            </a:r>
            <a:r>
              <a:rPr lang="en-US" sz="11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stpov_pct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18688" y="1097280"/>
            <a:ext cx="2834640" cy="5029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91840" y="10972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B: Equity Visualizations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18688" y="1600200"/>
            <a:ext cx="2834640" cy="3154680"/>
          </a:xfrm>
          <a:prstGeom prst="rect">
            <a:avLst/>
          </a:prstGeom>
          <a:solidFill>
            <a:srgbClr val="F4F7F8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328416" y="1755648"/>
            <a:ext cx="256032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28416" y="17556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0" y="173736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Scatter: per-pupil revenue vs. poverty rate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28416" y="2450592"/>
            <a:ext cx="256032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28416" y="24505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0" y="2432304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by urbanicity (urban/suburban/rural)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28416" y="3145536"/>
            <a:ext cx="256032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328416" y="31455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0" y="3127248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 trend (2018–2022, CPI-adjusted)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28416" y="3840480"/>
            <a:ext cx="256032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328416" y="38404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0" y="382219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CA vs. TX funding structures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08776" y="1097280"/>
            <a:ext cx="2834640" cy="5029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281928" y="10972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C: Connect to C2C Dashboard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208776" y="1600200"/>
            <a:ext cx="2834640" cy="3154680"/>
          </a:xfrm>
          <a:prstGeom prst="rect">
            <a:avLst/>
          </a:prstGeom>
          <a:solidFill>
            <a:srgbClr val="F4F7F8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318504" y="1755648"/>
            <a:ext cx="256032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318504" y="17556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647688" y="173736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 C2C</a:t>
            </a:r>
            <a:r>
              <a:rPr lang="en-US" sz="11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apply filters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318504" y="2450592"/>
            <a:ext cx="256032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318504" y="24505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647688" y="2432304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patterns from R plots to dashboard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318504" y="3145536"/>
            <a:ext cx="256032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318504" y="31455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647688" y="3127248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C2C data dictionary &amp; student stories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318504" y="3840480"/>
            <a:ext cx="256032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318504" y="38404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647688" y="382219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data suppression in both tools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Discussion — Connecting the Dots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02920" cy="68580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1097280"/>
            <a:ext cx="8001000" cy="685800"/>
          </a:xfrm>
          <a:prstGeom prst="rect">
            <a:avLst/>
          </a:prstGeom>
          <a:solidFill>
            <a:srgbClr val="F4F7F8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13385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relationship did you find between district poverty level and per-pupil revenue?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49047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Compare your ggplot scatter to the C2C dashboard poverty filter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057400"/>
            <a:ext cx="502920" cy="68580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205740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8680" y="2057400"/>
            <a:ext cx="8001000" cy="685800"/>
          </a:xfrm>
          <a:prstGeom prst="rect">
            <a:avLst/>
          </a:prstGeom>
          <a:solidFill>
            <a:srgbClr val="F4F7F8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5840" y="209397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funding patterns show up in student outcomes on the C2C dashboard?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45059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Look at graduation rates and college enrollment data across different districts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502920" cy="68580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301752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68680" y="3017520"/>
            <a:ext cx="8001000" cy="685800"/>
          </a:xfrm>
          <a:prstGeom prst="rect">
            <a:avLst/>
          </a:prstGeom>
          <a:solidFill>
            <a:srgbClr val="F4F7F8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5840" y="305409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communities are most affected by data suppression? What are the policy implications?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41071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Consider small rural districts and specific demographic subgroups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977640"/>
            <a:ext cx="502920" cy="68580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397764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68680" y="3977640"/>
            <a:ext cx="8001000" cy="685800"/>
          </a:xfrm>
          <a:prstGeom prst="rect">
            <a:avLst/>
          </a:prstGeom>
          <a:solidFill>
            <a:srgbClr val="F4F7F8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05840" y="401421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story does positive framing tell about students in under-resourced districts?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37083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Shift from deficit language to asset-based framing of resilience and strength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Exit Ticket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D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minutes  —  Submit individually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2062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57200" cy="1572768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097280"/>
            <a:ext cx="45720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23444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55448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specific, data-driven research question about K-12 education equity. Name the variables and the population.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788920"/>
            <a:ext cx="42062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2788920"/>
            <a:ext cx="457200" cy="1572768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2788920"/>
            <a:ext cx="45720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292608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24612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two edfinr variables and one C2C dashboard filter you would use to answer your question.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42062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457200" cy="1572768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0" y="1097280"/>
            <a:ext cx="45720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03520" y="123444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Suppression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0" y="155448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2–3 sentences: define suppression, explain the N ≤ 10 rule, and describe how this affects your research question.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788920"/>
            <a:ext cx="42062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2788920"/>
            <a:ext cx="457200" cy="1572768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0" y="2788920"/>
            <a:ext cx="45720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03520" y="292608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03520" y="324612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sentence: name a community underrepresented in education finance data and explain why their visibility matters.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 — What You'll Take Away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850392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106070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edfinr to retrieve and filter K-12 school finance data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408176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D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by: Run get_finance_data() with multiple filter combinations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947672"/>
            <a:ext cx="850392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2039112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202082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equity visualizations across edfinr + C2C Dashboard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368296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D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by: Identify and articulate one equity trend across both tools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907792"/>
            <a:ext cx="850392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2999232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05840" y="298094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data suppression and its equity implications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328416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D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by: Correctly explain the N ≤ 10 rule in the exit ticket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867912"/>
            <a:ext cx="850392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3959352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394106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 a measurable data-driven research question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4288536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D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by: Submit a complete exit ticket with variables identified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5F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560320"/>
            <a:ext cx="3657600" cy="3657600"/>
          </a:xfrm>
          <a:prstGeom prst="ellipse">
            <a:avLst/>
          </a:prstGeom>
          <a:solidFill>
            <a:srgbClr val="0A9396">
              <a:alpha val="35000"/>
            </a:srgbClr>
          </a:solidFill>
          <a:ln w="12700">
            <a:solidFill>
              <a:srgbClr val="0A9396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-1097280"/>
            <a:ext cx="3200400" cy="3200400"/>
          </a:xfrm>
          <a:prstGeom prst="ellipse">
            <a:avLst/>
          </a:prstGeom>
          <a:solidFill>
            <a:srgbClr val="ADE8F4">
              <a:alpha val="30000"/>
            </a:srgbClr>
          </a:solidFill>
          <a:ln w="12700">
            <a:solidFill>
              <a:srgbClr val="ADE8F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9144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not just numbers.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AD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story of every student who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i="1" dirty="0">
                <a:solidFill>
                  <a:srgbClr val="AD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deserves a fair path forward.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edfinr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C2C Student Pathways Dashboard  +  Your curiosity =
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to understand and change the system.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D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C2C Dashboard: databydesign.caschooldashboard.org  |  edfinr: install.packages('edfinr')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1016</Words>
  <Application>Microsoft Macintosh PowerPoint</Application>
  <PresentationFormat>On-screen Show (16:9)</PresentationFormat>
  <Paragraphs>150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Funding Futures: K-12 Education Finance Equity</dc:title>
  <dc:subject>PptxGenJS Presentation</dc:subject>
  <dc:creator>Lesson Plan Challenge</dc:creator>
  <cp:lastModifiedBy>Michael Chrzan</cp:lastModifiedBy>
  <cp:revision>1</cp:revision>
  <dcterms:created xsi:type="dcterms:W3CDTF">2026-03-14T13:49:52Z</dcterms:created>
  <dcterms:modified xsi:type="dcterms:W3CDTF">2026-03-15T18:50:18Z</dcterms:modified>
</cp:coreProperties>
</file>